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9" r:id="rId4"/>
    <p:sldId id="258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518"/>
    <p:restoredTop sz="94610"/>
  </p:normalViewPr>
  <p:slideViewPr>
    <p:cSldViewPr snapToGrid="0" snapToObjects="1">
      <p:cViewPr varScale="1">
        <p:scale>
          <a:sx n="125" d="100"/>
          <a:sy n="125" d="100"/>
        </p:scale>
        <p:origin x="168" y="3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945202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 problem before showing anything. The defining requirement is that the platform has to STOP when the member picks up. A reminder platform that cannot stop is a mailing list.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the assumptions I would validate first are identity resolution and point-in-time consent — both fail silently, and both are contract questions with upstream systems.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read the ERD. Give the three decisions, then say the full model is on screen if they want to go deeper anywhere.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diagram in the order of the five business steps, not box by box. If asked why Cloud Tasks and not Pub/Sub: Pub/Sub cannot schedule days ahead, cannot be retracted, and is built to go fast — I need scheduling, cancellation, and rate control.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in the same order as the flow. Land on the eligibility finding: all 34 collected and all 8 cancelled fills still carry ready_for_pickup = Y, so pickup status has to govern eligibility.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Close, then ask them two questions: is this greenfield or replacing an existing notification path, and is the hard part in their environment ingestion or consent and identity.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lucid.app/lucidchart/00bbd701-3718-4135-9179-c21b107facb3/edit?viewport_loc=-148%2C-180%2C2958%2C1740%2Cpage1&amp;invitationId=inv_c5a5734a-cedf-402b-b96b-3b150fba7b61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mermaid.ai/d/d0037821-e8d0-49f2-a709-f7835c364579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medication-reminder-ui-783238745629.us-central1.run.app/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D0F5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005840"/>
            <a:ext cx="4206240" cy="4206240"/>
          </a:xfrm>
          <a:prstGeom prst="ellipse">
            <a:avLst/>
          </a:prstGeom>
          <a:solidFill>
            <a:srgbClr val="7D3F98">
              <a:alpha val="45000"/>
            </a:srgbClr>
          </a:solidFill>
          <a:ln w="12700">
            <a:solidFill>
              <a:srgbClr val="7D3F9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607040" y="3840480"/>
            <a:ext cx="2377440" cy="2377440"/>
          </a:xfrm>
          <a:prstGeom prst="ellipse">
            <a:avLst/>
          </a:prstGeom>
          <a:solidFill>
            <a:srgbClr val="D6006E">
              <a:alpha val="35000"/>
            </a:srgbClr>
          </a:solidFill>
          <a:ln w="12700">
            <a:solidFill>
              <a:srgbClr val="D6006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 rot="20400000">
            <a:off x="8778240" y="2286000"/>
            <a:ext cx="2011680" cy="822960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22960" y="1874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D60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AETNA  ·  CVS HEALTH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22402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Medication Reminder Platform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822960" y="320040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D9C7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Notifying members when their prescriptions are ready for pickup at CVS stores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22960" y="4160520"/>
            <a:ext cx="1691640" cy="457200"/>
          </a:xfrm>
          <a:prstGeom prst="roundRect">
            <a:avLst>
              <a:gd name="adj" fmla="val 50000"/>
            </a:avLst>
          </a:prstGeom>
          <a:solidFill>
            <a:srgbClr val="7D3F98"/>
          </a:solidFill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94860" y="4160520"/>
            <a:ext cx="1691640" cy="457200"/>
          </a:xfrm>
          <a:prstGeom prst="roundRect">
            <a:avLst>
              <a:gd name="adj" fmla="val 50000"/>
            </a:avLst>
          </a:prstGeom>
          <a:solidFill>
            <a:srgbClr val="7D3F98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UI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708910" y="4173220"/>
            <a:ext cx="1691640" cy="457200"/>
          </a:xfrm>
          <a:prstGeom prst="roundRect">
            <a:avLst>
              <a:gd name="adj" fmla="val 50000"/>
            </a:avLst>
          </a:prstGeom>
          <a:solidFill>
            <a:srgbClr val="7D3F98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Data Model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22960" y="50292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E6008BD2-4F8A-467D-C480-D591A6EFDFAE}"/>
              </a:ext>
            </a:extLst>
          </p:cNvPr>
          <p:cNvSpPr/>
          <p:nvPr/>
        </p:nvSpPr>
        <p:spPr>
          <a:xfrm>
            <a:off x="6446520" y="4160520"/>
            <a:ext cx="1691640" cy="457200"/>
          </a:xfrm>
          <a:prstGeom prst="roundRect">
            <a:avLst>
              <a:gd name="adj" fmla="val 50000"/>
            </a:avLst>
          </a:prstGeom>
          <a:solidFill>
            <a:srgbClr val="7D3F98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Document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3D0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platform has to do, and what I assumed while designing it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64240" cy="914400"/>
          </a:xfrm>
          <a:prstGeom prst="roundRect">
            <a:avLst>
              <a:gd name="adj" fmla="val 10000"/>
            </a:avLst>
          </a:prstGeom>
          <a:solidFill>
            <a:srgbClr val="F5F0F8"/>
          </a:solidFill>
          <a:ln w="12700">
            <a:solidFill>
              <a:srgbClr val="F5F0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68680" y="1508760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prescription becomes ready at a CVS store. We decide whether we may contact the member, send on their preferred channel, and track what happened, </a:t>
            </a:r>
            <a:r>
              <a:rPr lang="en-US" sz="1500" b="1" dirty="0">
                <a:solidFill>
                  <a:srgbClr val="D60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stop the moment they pick it up.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260604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7D3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flow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3063240"/>
            <a:ext cx="310896" cy="310896"/>
          </a:xfrm>
          <a:prstGeom prst="ellipse">
            <a:avLst/>
          </a:prstGeom>
          <a:solidFill>
            <a:srgbClr val="7D3F98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87552" y="3026664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Prescription ready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87552" y="3246120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fill is marked ready for pickup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3630168"/>
            <a:ext cx="310896" cy="310896"/>
          </a:xfrm>
          <a:prstGeom prst="ellipse">
            <a:avLst/>
          </a:prstGeom>
          <a:solidFill>
            <a:srgbClr val="7D3F98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87552" y="3593592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Eligibility evaluated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87552" y="3813048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Coverage, consent, channel, deadline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4197096"/>
            <a:ext cx="310896" cy="310896"/>
          </a:xfrm>
          <a:prstGeom prst="ellipse">
            <a:avLst/>
          </a:prstGeom>
          <a:solidFill>
            <a:srgbClr val="7D3F98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87552" y="4160520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generated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87552" y="4379976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per fill, up to three reminders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4764024"/>
            <a:ext cx="310896" cy="310896"/>
          </a:xfrm>
          <a:prstGeom prst="ellipse">
            <a:avLst/>
          </a:prstGeom>
          <a:solidFill>
            <a:srgbClr val="7D3F98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87552" y="4727448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A3A3A"/>
                </a:solidFill>
                <a:latin typeface="Calibri" pitchFamily="34" charset="0"/>
                <a:cs typeface="Calibri" pitchFamily="34" charset="-120"/>
              </a:rPr>
              <a:t>Communication Status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87552" y="4946904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member's preferred channel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8640" y="5330952"/>
            <a:ext cx="310896" cy="310896"/>
          </a:xfrm>
          <a:prstGeom prst="ellipse">
            <a:avLst/>
          </a:prstGeom>
          <a:solidFill>
            <a:srgbClr val="7D3F98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87552" y="5294376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Dashboard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87552" y="5513832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campaign view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309360" y="2542032"/>
            <a:ext cx="5303520" cy="3246120"/>
          </a:xfrm>
          <a:prstGeom prst="roundRect">
            <a:avLst>
              <a:gd name="adj" fmla="val 2817"/>
            </a:avLst>
          </a:prstGeom>
          <a:solidFill>
            <a:srgbClr val="F5F0F8"/>
          </a:solidFill>
          <a:ln w="12700">
            <a:solidFill>
              <a:srgbClr val="F5F0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629400" y="269748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7D3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Eligibility Assumptions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629400" y="3154680"/>
            <a:ext cx="47091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Prescription is ready and still pending pickup.</a:t>
            </a: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Pickup deadline has not passed.</a:t>
            </a: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coverage is active.</a:t>
            </a: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preferred communication channel exists.</a:t>
            </a: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has permission for that channel.</a:t>
            </a: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Phone, email, or push token value available.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3D0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 Data Model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Twelve entities in five groups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6035040" cy="621792"/>
          </a:xfrm>
          <a:prstGeom prst="roundRect">
            <a:avLst>
              <a:gd name="adj" fmla="val 14706"/>
            </a:avLst>
          </a:prstGeom>
          <a:solidFill>
            <a:srgbClr val="F5F0F8"/>
          </a:solidFill>
          <a:ln w="12700">
            <a:solidFill>
              <a:srgbClr val="F5F0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77240" y="1563624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7D3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777240" y="1819656"/>
            <a:ext cx="5577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· PLAN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48640" y="2258568"/>
            <a:ext cx="6035040" cy="621792"/>
          </a:xfrm>
          <a:prstGeom prst="roundRect">
            <a:avLst>
              <a:gd name="adj" fmla="val 14706"/>
            </a:avLst>
          </a:prstGeom>
          <a:solidFill>
            <a:srgbClr val="F5F0F8"/>
          </a:solidFill>
          <a:ln w="12700">
            <a:solidFill>
              <a:srgbClr val="F5F0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77240" y="231343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7D3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Prescription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77240" y="2569464"/>
            <a:ext cx="5577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· PRESCRIPTION · PRESCRIPTION_FILL · CVS_STORE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3008376"/>
            <a:ext cx="6035040" cy="621792"/>
          </a:xfrm>
          <a:prstGeom prst="roundRect">
            <a:avLst>
              <a:gd name="adj" fmla="val 14706"/>
            </a:avLst>
          </a:prstGeom>
          <a:solidFill>
            <a:srgbClr val="F5F0F8"/>
          </a:solidFill>
          <a:ln w="12700">
            <a:solidFill>
              <a:srgbClr val="F5F0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77240" y="306324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7D3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Preference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77240" y="3319272"/>
            <a:ext cx="5577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COMMUNICATION_PREFERENCE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8640" y="3758184"/>
            <a:ext cx="6035040" cy="621792"/>
          </a:xfrm>
          <a:prstGeom prst="roundRect">
            <a:avLst>
              <a:gd name="adj" fmla="val 14706"/>
            </a:avLst>
          </a:prstGeom>
          <a:solidFill>
            <a:srgbClr val="F5F0F8"/>
          </a:solidFill>
          <a:ln w="12700">
            <a:solidFill>
              <a:srgbClr val="F5F0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77240" y="381304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7D3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Decisioning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77240" y="4069080"/>
            <a:ext cx="5577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ELIGIBILITY_EVALUATION · CAMPAIGN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4507992"/>
            <a:ext cx="6035040" cy="621792"/>
          </a:xfrm>
          <a:prstGeom prst="roundRect">
            <a:avLst>
              <a:gd name="adj" fmla="val 14706"/>
            </a:avLst>
          </a:prstGeom>
          <a:solidFill>
            <a:srgbClr val="F5F0F8"/>
          </a:solidFill>
          <a:ln w="12700">
            <a:solidFill>
              <a:srgbClr val="F5F0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77240" y="4562856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7D3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77240" y="4818888"/>
            <a:ext cx="5577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 · NOTIFICATION_ATTEMPT · MESSAGE_TEMPLATE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949440" y="150876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7D3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worth defending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949440" y="2057400"/>
            <a:ext cx="310896" cy="310896"/>
          </a:xfrm>
          <a:prstGeom prst="ellipse">
            <a:avLst/>
          </a:prstGeom>
          <a:solidFill>
            <a:srgbClr val="7D3F98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388352" y="2020824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fill is the unit of work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388352" y="2295144"/>
            <a:ext cx="4251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prescription can be filled many times, so the reminder belongs to the fill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949440" y="3200400"/>
            <a:ext cx="310896" cy="310896"/>
          </a:xfrm>
          <a:prstGeom prst="ellipse">
            <a:avLst/>
          </a:prstGeom>
          <a:solidFill>
            <a:srgbClr val="7D3F98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388352" y="3163824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decision is stored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388352" y="3438144"/>
            <a:ext cx="4251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results are persisted, so we can answer why a member was contacted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949440" y="4343400"/>
            <a:ext cx="310896" cy="310896"/>
          </a:xfrm>
          <a:prstGeom prst="ellipse">
            <a:avLst/>
          </a:prstGeom>
          <a:solidFill>
            <a:srgbClr val="7D3F98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388352" y="4306824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Correctness lives in the schema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388352" y="4581144"/>
            <a:ext cx="4251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keys stop duplicate campaigns; a CHECK caps reminders at three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548640" y="5532120"/>
            <a:ext cx="3840480" cy="457200"/>
          </a:xfrm>
          <a:prstGeom prst="roundRect">
            <a:avLst>
              <a:gd name="adj" fmla="val 50000"/>
            </a:avLst>
          </a:prstGeom>
          <a:solidFill>
            <a:srgbClr val="D6006E"/>
          </a:solidFill>
          <a:ln w="12700">
            <a:solidFill>
              <a:srgbClr val="D600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48640" y="55321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tooltip="Open the data model  →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the data model  →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3D0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ingestion patterns, one canonical event, so the reminder logic is written once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3520440" cy="1920240"/>
          </a:xfrm>
          <a:prstGeom prst="roundRect">
            <a:avLst>
              <a:gd name="adj" fmla="val 4762"/>
            </a:avLst>
          </a:prstGeom>
          <a:solidFill>
            <a:srgbClr val="F5F0F8"/>
          </a:solidFill>
          <a:ln w="12700">
            <a:solidFill>
              <a:srgbClr val="F5F0F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04672" y="1691640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7D3F98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04672" y="217627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Nightly extracts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04672" y="246888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D3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Storage → Cloud Run Job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04672" y="276148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Non-CVS network pharmacies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25112" y="1481328"/>
            <a:ext cx="3520440" cy="1920240"/>
          </a:xfrm>
          <a:prstGeom prst="roundRect">
            <a:avLst>
              <a:gd name="adj" fmla="val 4762"/>
            </a:avLst>
          </a:prstGeom>
          <a:solidFill>
            <a:srgbClr val="F5F0F8"/>
          </a:solidFill>
          <a:ln w="12700">
            <a:solidFill>
              <a:srgbClr val="F5F0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81144" y="1691640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7D3F98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81144" y="217627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updates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81144" y="246888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D3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 → Cloud Run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581144" y="276148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Mail order and specialty pharmacy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101584" y="1481328"/>
            <a:ext cx="3520440" cy="1920240"/>
          </a:xfrm>
          <a:prstGeom prst="roundRect">
            <a:avLst>
              <a:gd name="adj" fmla="val 4762"/>
            </a:avLst>
          </a:prstGeom>
          <a:solidFill>
            <a:srgbClr val="F5F0F8"/>
          </a:solidFill>
          <a:ln w="12700">
            <a:solidFill>
              <a:srgbClr val="F5F0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357616" y="1691640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7D3F98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357616" y="217627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lifecycle events from stores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357616" y="246888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D3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Pub/Sub → Cloud Run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357616" y="276148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CVS retail pharmacy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3611880"/>
            <a:ext cx="11091672" cy="2112264"/>
          </a:xfrm>
          <a:prstGeom prst="roundRect">
            <a:avLst>
              <a:gd name="adj" fmla="val 5714"/>
            </a:avLst>
          </a:prstGeom>
          <a:solidFill>
            <a:srgbClr val="3D0F52"/>
          </a:solidFill>
          <a:ln w="12700">
            <a:solidFill>
              <a:srgbClr val="3D0F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68680" y="3767328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converge on one canonical event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68680" y="4096512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9C7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a new source is an adapter, not a new pipeline. Pickup or cancellation purges the queued reminders and closes the campaign.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543800" y="3840480"/>
            <a:ext cx="1828800" cy="438912"/>
          </a:xfrm>
          <a:prstGeom prst="roundRect">
            <a:avLst>
              <a:gd name="adj" fmla="val 50000"/>
            </a:avLst>
          </a:prstGeom>
          <a:solidFill>
            <a:srgbClr val="FFFFFF">
              <a:alpha val="15000"/>
            </a:srgbClr>
          </a:solidFill>
          <a:ln>
            <a:solidFill>
              <a:srgbClr val="D9C7E4">
                <a:alpha val="5000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Run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9555480" y="3840480"/>
            <a:ext cx="1828800" cy="438912"/>
          </a:xfrm>
          <a:prstGeom prst="roundRect">
            <a:avLst>
              <a:gd name="adj" fmla="val 50000"/>
            </a:avLst>
          </a:prstGeom>
          <a:solidFill>
            <a:srgbClr val="FFFFFF">
              <a:alpha val="15000"/>
            </a:srgbClr>
          </a:solidFill>
          <a:ln>
            <a:solidFill>
              <a:srgbClr val="D9C7E4">
                <a:alpha val="5000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Tasks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7543800" y="4407408"/>
            <a:ext cx="1828800" cy="438912"/>
          </a:xfrm>
          <a:prstGeom prst="roundRect">
            <a:avLst>
              <a:gd name="adj" fmla="val 50000"/>
            </a:avLst>
          </a:prstGeom>
          <a:solidFill>
            <a:srgbClr val="FFFFFF">
              <a:alpha val="15000"/>
            </a:srgbClr>
          </a:solidFill>
          <a:ln>
            <a:solidFill>
              <a:srgbClr val="D9C7E4">
                <a:alpha val="5000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SQL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9555480" y="4407408"/>
            <a:ext cx="1828800" cy="438912"/>
          </a:xfrm>
          <a:prstGeom prst="roundRect">
            <a:avLst>
              <a:gd name="adj" fmla="val 50000"/>
            </a:avLst>
          </a:prstGeom>
          <a:solidFill>
            <a:srgbClr val="FFFFFF">
              <a:alpha val="15000"/>
            </a:srgbClr>
          </a:solidFill>
          <a:ln>
            <a:solidFill>
              <a:srgbClr val="D9C7E4">
                <a:alpha val="5000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Scheduler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35432" y="5934456"/>
            <a:ext cx="4572000" cy="457200"/>
          </a:xfrm>
          <a:prstGeom prst="roundRect">
            <a:avLst>
              <a:gd name="adj" fmla="val 50000"/>
            </a:avLst>
          </a:prstGeom>
          <a:solidFill>
            <a:srgbClr val="D6006E"/>
          </a:solidFill>
          <a:ln w="12700">
            <a:solidFill>
              <a:srgbClr val="D6006E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535432" y="5934456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tooltip="Open the architecture diagram  →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the architecture diagram  →</a:t>
            </a:r>
            <a:endParaRPr lang="en-US" sz="1300" dirty="0"/>
          </a:p>
        </p:txBody>
      </p:sp>
      <p:sp>
        <p:nvSpPr>
          <p:cNvPr id="28" name="Text 22">
            <a:extLst>
              <a:ext uri="{FF2B5EF4-FFF2-40B4-BE49-F238E27FC236}">
                <a16:creationId xmlns:a16="http://schemas.microsoft.com/office/drawing/2014/main" id="{88BEFE5D-AB1B-0AD5-8D9A-538D4F3D507C}"/>
              </a:ext>
            </a:extLst>
          </p:cNvPr>
          <p:cNvSpPr/>
          <p:nvPr/>
        </p:nvSpPr>
        <p:spPr>
          <a:xfrm>
            <a:off x="7543800" y="4996688"/>
            <a:ext cx="1828800" cy="438912"/>
          </a:xfrm>
          <a:prstGeom prst="roundRect">
            <a:avLst>
              <a:gd name="adj" fmla="val 50000"/>
            </a:avLst>
          </a:prstGeom>
          <a:solidFill>
            <a:srgbClr val="FFFFFF">
              <a:alpha val="15000"/>
            </a:srgbClr>
          </a:solidFill>
          <a:ln>
            <a:solidFill>
              <a:srgbClr val="D9C7E4">
                <a:alpha val="5000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Storage</a:t>
            </a:r>
            <a:endParaRPr lang="en-US" sz="1150" dirty="0"/>
          </a:p>
        </p:txBody>
      </p:sp>
      <p:sp>
        <p:nvSpPr>
          <p:cNvPr id="29" name="Text 22">
            <a:extLst>
              <a:ext uri="{FF2B5EF4-FFF2-40B4-BE49-F238E27FC236}">
                <a16:creationId xmlns:a16="http://schemas.microsoft.com/office/drawing/2014/main" id="{BAB10D97-63AF-8D3B-6A49-FD1991037984}"/>
              </a:ext>
            </a:extLst>
          </p:cNvPr>
          <p:cNvSpPr/>
          <p:nvPr/>
        </p:nvSpPr>
        <p:spPr>
          <a:xfrm>
            <a:off x="9546336" y="4996688"/>
            <a:ext cx="1828800" cy="438912"/>
          </a:xfrm>
          <a:prstGeom prst="roundRect">
            <a:avLst>
              <a:gd name="adj" fmla="val 50000"/>
            </a:avLst>
          </a:prstGeom>
          <a:solidFill>
            <a:srgbClr val="FFFFFF">
              <a:alpha val="15000"/>
            </a:srgbClr>
          </a:solidFill>
          <a:ln>
            <a:solidFill>
              <a:srgbClr val="D9C7E4">
                <a:alpha val="50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Pub/Sub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3D0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UI Prototype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screens one for each step of the business flow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1572768"/>
            <a:ext cx="310896" cy="310896"/>
          </a:xfrm>
          <a:prstGeom prst="ellipse">
            <a:avLst/>
          </a:prstGeom>
          <a:solidFill>
            <a:srgbClr val="7D3F98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87552" y="153619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Prescriptions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87552" y="1792224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Pickup status across all members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2231136"/>
            <a:ext cx="310896" cy="310896"/>
          </a:xfrm>
          <a:prstGeom prst="ellipse">
            <a:avLst/>
          </a:prstGeom>
          <a:solidFill>
            <a:srgbClr val="7D3F98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87552" y="21945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Eligibility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87552" y="2450592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Rules, scores and reasons per member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2889504"/>
            <a:ext cx="310896" cy="310896"/>
          </a:xfrm>
          <a:prstGeom prst="ellipse">
            <a:avLst/>
          </a:prstGeom>
          <a:solidFill>
            <a:srgbClr val="7D3F98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87552" y="285292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87552" y="3108960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messages ready to dispatch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3547872"/>
            <a:ext cx="310896" cy="310896"/>
          </a:xfrm>
          <a:prstGeom prst="ellipse">
            <a:avLst/>
          </a:prstGeom>
          <a:solidFill>
            <a:srgbClr val="7D3F98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87552" y="351129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87552" y="3767328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status for every notification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4206240"/>
            <a:ext cx="310896" cy="310896"/>
          </a:xfrm>
          <a:prstGeom prst="ellipse">
            <a:avLst/>
          </a:prstGeom>
          <a:solidFill>
            <a:srgbClr val="7D3F98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87552" y="416966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87552" y="4425696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Volume, channel performance, outcomes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074920" y="1481328"/>
            <a:ext cx="6583680" cy="3913632"/>
          </a:xfrm>
          <a:prstGeom prst="roundRect">
            <a:avLst>
              <a:gd name="adj" fmla="val 2336"/>
            </a:avLst>
          </a:prstGeom>
          <a:solidFill>
            <a:srgbClr val="F5F0F8"/>
          </a:solidFill>
          <a:ln w="12700">
            <a:solidFill>
              <a:srgbClr val="D9C7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Image 0" descr="/mnt/user-data/uploads/Screenshot_2026-07-22_at_11_20_03_PM__2_.png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5230368" y="1636776"/>
            <a:ext cx="6272784" cy="3529584"/>
          </a:xfrm>
          <a:prstGeom prst="rect">
            <a:avLst/>
          </a:prstGeom>
        </p:spPr>
      </p:pic>
      <p:sp>
        <p:nvSpPr>
          <p:cNvPr id="21" name="Shape 18"/>
          <p:cNvSpPr/>
          <p:nvPr/>
        </p:nvSpPr>
        <p:spPr>
          <a:xfrm>
            <a:off x="548640" y="5029200"/>
            <a:ext cx="3931920" cy="457200"/>
          </a:xfrm>
          <a:prstGeom prst="roundRect">
            <a:avLst>
              <a:gd name="adj" fmla="val 50000"/>
            </a:avLst>
          </a:prstGeom>
          <a:solidFill>
            <a:srgbClr val="D6006E"/>
          </a:solidFill>
          <a:ln w="12700">
            <a:solidFill>
              <a:srgbClr val="D600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548640" y="502920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tooltip="Open the live prototype  →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the live prototype  →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548640" y="562356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the supplied dataset: 150 prescriptions, 100 members, 70 notifications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3D0F5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4206240"/>
            <a:ext cx="3840480" cy="3840480"/>
          </a:xfrm>
          <a:prstGeom prst="ellipse">
            <a:avLst/>
          </a:prstGeom>
          <a:solidFill>
            <a:srgbClr val="7D3F98">
              <a:alpha val="40000"/>
            </a:srgbClr>
          </a:solidFill>
          <a:ln w="12700">
            <a:solidFill>
              <a:srgbClr val="7D3F9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22960" y="489204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you, happy to go deeper on any part</a:t>
            </a:r>
            <a:endParaRPr lang="en-US" sz="1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403</TotalTime>
  <Words>692</Words>
  <Application>Microsoft Macintosh PowerPoint</Application>
  <PresentationFormat>Widescreen</PresentationFormat>
  <Paragraphs>111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Sahil Sanjay Bhagat</cp:lastModifiedBy>
  <cp:revision>4</cp:revision>
  <dcterms:created xsi:type="dcterms:W3CDTF">2026-07-23T16:36:29Z</dcterms:created>
  <dcterms:modified xsi:type="dcterms:W3CDTF">2026-07-23T23:29:24Z</dcterms:modified>
</cp:coreProperties>
</file>